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【预习·生产要点】</a:t>
            </a:r>
          </a:p>
          <a:p>
            <a:r>
              <a:t>· 软件工程：需求/设计/编码/测试/交付的阶段组织，本实训每天即其缩影。</a:t>
            </a:r>
          </a:p>
          <a:p>
            <a:r>
              <a:t>· Rubric：评分量规，按统一标准而非逐功能比对来评不同项目。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【预习·生产要点】</a:t>
            </a:r>
          </a:p>
          <a:p>
            <a:r>
              <a:t>· 瀑布：阶段串行、需求稳定时适用。</a:t>
            </a:r>
          </a:p>
          <a:p>
            <a:r>
              <a:t>· 迭代：先交付最小可用，再增量完善，适合需求会进化的项目。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【预习·生产要点】</a:t>
            </a:r>
          </a:p>
          <a:p>
            <a:r>
              <a:t>· QA 表：记录与「客户」确认的需求问题，口头不算数。</a:t>
            </a:r>
          </a:p>
          <a:p>
            <a:r>
              <a:t>· 缺陷管理：用 BUG 单记录从发现到关闭的全生命周期。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【预习·生产要点】</a:t>
            </a:r>
          </a:p>
          <a:p>
            <a:r>
              <a:t>· Scene Graph：JavaFX 界面树，Stage→Scene→Pane→Node 层级组织。</a:t>
            </a:r>
          </a:p>
          <a:p>
            <a:r>
              <a:t>· 映射：模型字段与界面元素一一对应，是 UI 程序基本功。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【预习·生产要点】</a:t>
            </a:r>
          </a:p>
          <a:p>
            <a:r>
              <a:t>· 控制器(Controller)：把输入翻译成对模型的指令，不碰界面绘制。</a:t>
            </a:r>
          </a:p>
          <a:p>
            <a:r>
              <a:t>· 模型(Model)：只管业务状态，不依赖 JavaFX 才算干净分层。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【预习·生产要点】</a:t>
            </a:r>
          </a:p>
          <a:p>
            <a:r>
              <a:t>· JavaFX：自 JDK 11 起剥离，需单独引依赖并用插件/模块化方式运行。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【预习·生产要点】</a:t>
            </a:r>
          </a:p>
          <a:p>
            <a:r>
              <a:t>· 提示词：角色+上下文+约束+示例+验收写足，产出才可控可审。</a:t>
            </a:r>
          </a:p>
          <a:p>
            <a:r>
              <a:t>· AI 核对：对 AI 生成的文档/代码人工核对版本、依赖、事实，防幻觉。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【预习·生产要点】</a:t>
            </a:r>
          </a:p>
          <a:p>
            <a:r>
              <a:t>· AI 核对：要求 AI 对不确定版本标 [待确认]，审完把问题记录进 README 与日报。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【预习·生产要点】</a:t>
            </a:r>
          </a:p>
          <a:p>
            <a:r>
              <a:t>· 断点：在代码行设暂停点，运行到此处停下观察状态。</a:t>
            </a:r>
          </a:p>
          <a:p>
            <a:r>
              <a:t>· 调用栈：当前函数被谁一层层调用的记录，定位「谁调用了我」。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5486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22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484632"/>
            <a:ext cx="23774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NEUEDU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60704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Day01｜项目启动与工程环境</a:t>
            </a:r>
            <a:endParaRPr sz="3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JavaFX 游戏项目实训 · 教师授课 PPT</a:t>
            </a:r>
            <a:endParaRPr sz="1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FB6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 Eastern Education &amp; Technology Group</a:t>
            </a:r>
            <a:endParaRPr sz="1300" b="0">
              <a:solidFill>
                <a:srgbClr val="9FB6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66344" cy="3730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7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87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97864" y="438912"/>
            <a:ext cx="2377440" cy="40965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NEUEDU</a:t>
            </a:r>
            <a:endParaRPr sz="15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60704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今天解决一件事：把能一键运行的工程立起来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环境、脚手架、Git、Debug 入门——后面九天的所有代码都长在这个骨架上。</a:t>
            </a:r>
            <a:endParaRPr sz="18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66344" cy="3730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7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87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97864" y="438912"/>
            <a:ext cx="2377440" cy="40965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NEUEDU</a:t>
            </a:r>
            <a:endParaRPr sz="15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开训 · 分组 · 选组长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3-5 人一组定下来：组长（PM）、开发、测试每两天轮换，开发可多人分担；各组自选项目，不与教师案例相同、组间也可不同</a:t>
            </a:r>
            <a:endParaRPr sz="18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培养目标：我们要练出三类能力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713232"/>
          </a:xfrm>
          <a:prstGeom prst="rect">
            <a:avLst/>
          </a:prstGeom>
          <a:solidFill>
            <a:srgbClr val="EAF2FB"/>
          </a:solidFill>
          <a:ln w="9525">
            <a:solidFill>
              <a:srgbClr val="35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十天结束时，你应是「懂技术 + 懂软件工程 + 会用 AI」的软件工程师，三件事缺一不可。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5166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技巧：懂技术：能用 JavaFX 把项目写完、跑起来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今天先跑通一个 10×20 网格，建立「写代码」的实感。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技巧：懂软件工程：掌握需求→设计→编码→测试→交付各阶段的过程管理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项目不只有写代码，每个阶段都要有文档、评审、记录。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66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AI：会用 AI：提示词怎么写、AI 产出怎么审</a:t>
            </a:r>
            <a:endParaRPr sz="1500" b="1">
              <a:solidFill>
                <a:srgbClr val="166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66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老师用俄罗斯方块做全套示范，你们各组用自己项目练同一套方法。</a:t>
            </a:r>
            <a:endParaRPr sz="1500" b="1">
              <a:solidFill>
                <a:srgbClr val="166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5943600"/>
            <a:ext cx="11064240" cy="384048"/>
          </a:xfrm>
          <a:prstGeom prst="rect">
            <a:avLst/>
          </a:prstGeom>
          <a:solidFill>
            <a:srgbClr val="082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项目不一样，但阶段产出物、评审 Checklist、质量门槛完全一致——老师按统一 Rubric 评审。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软件工程全链条（这次走完前九步）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713232"/>
          </a:xfrm>
          <a:prstGeom prst="rect">
            <a:avLst/>
          </a:prstGeom>
          <a:solidFill>
            <a:srgbClr val="EAF2FB"/>
          </a:solidFill>
          <a:ln w="9525">
            <a:solidFill>
              <a:srgbClr val="35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立项→需求→概设→详设→编码→单元测→集成测→系统测→提交；维护留到课后。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5166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技巧：过程模型结论：需求稳定用瀑布；小项目用迭代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先跑通「最小可玩版本」，再一轮轮叠加功能。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技巧：每天一次进度同步 + 每阶段一次评审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按这个节奏执行，就是这套流程的实际做法。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每一步都有文档、评审、记录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不要到最后统一补文档，当天产出当天留痕。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角色分工：组内角色，老师三重身份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713232"/>
          </a:xfrm>
          <a:prstGeom prst="rect">
            <a:avLst/>
          </a:prstGeom>
          <a:solidFill>
            <a:srgbClr val="EAF2FB"/>
          </a:solidFill>
          <a:ln w="9525">
            <a:solidFill>
              <a:srgbClr val="35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组内 PM/开发/测试 每两天轮换；老师同时是指导老师、PM、客户。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5166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技巧：组内：PM（进度/日报/对外）、开发（架构/编码）、测试（用例/缺陷）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每两天轮换一次，人人都轮到每个角色。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技巧：老师三重身份：指导老师(技术把关) + PM(进度规范) + 客户(需求验收)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跟「客户」沟通必须写进 QA 问题表。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口头说的不算数，所有需求澄清留痕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从第一天开始执行，避免后续出现沟通争议。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考核与交付物（先记上这本账）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713232"/>
          </a:xfrm>
          <a:prstGeom prst="rect">
            <a:avLst/>
          </a:prstGeom>
          <a:solidFill>
            <a:srgbClr val="EAF2FB"/>
          </a:solidFill>
          <a:ln w="9525">
            <a:solidFill>
              <a:srgbClr val="35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出勤 30% + 项目 70%；最终交可运行源码(带 tag) + 六份文档 + 测试报告 + 答辩 PPT。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5166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技巧：项目 70% 看四件事：功能完整 / 代码规范 / 运行稳定 / 团队协作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技巧：六份文档对应软件工程六阶段，后面每天产出一份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答辩 PPT 是最后一天，但今天就要有「讲得清」的意识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不要到第十天才考虑如何讲解自己的设计。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JavaFX 生命周期与界面层级（先建立映射意识）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713232"/>
          </a:xfrm>
          <a:prstGeom prst="rect">
            <a:avLst/>
          </a:prstGeom>
          <a:solidFill>
            <a:srgbClr val="EAF2FB"/>
          </a:solidFill>
          <a:ln w="9525">
            <a:solidFill>
              <a:srgbClr val="35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应用生命周期 init→start→stop；界面树 Stage→Scene→Pane→Node；核心是「模型数据 ↔ 视图渲染」。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5166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例：生命周期：init() 初始化 → start(Stage) 入口 → stop() 收尾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程序从 start() 开始跑，窗口用它建。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例：界面层级：Stage(窗口) → Scene(场景) → Pane(容器) → Node(控件)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所有界面元素按这棵树组织。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技巧：第一层映射：模型数组的每一格 ↔ 界面上一个 Rectangle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后面所有设计都建立在这层映射上，今天就要建立。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示例：用二维数组渲染 10×20 网格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3200400"/>
          </a:xfrm>
          <a:prstGeom prst="rect">
            <a:avLst/>
          </a:prstGeom>
          <a:solidFill>
            <a:srgbClr val="1E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91440" rtlCol="0" anchor="ctr"/>
          <a:lstStyle/>
          <a:p>
            <a:pPr algn="ctr"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private static final int ROWS = 20, COLS = 10;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private final int[][] board = new int[ROWS][COLS];      // 模型：0=空 1=占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private final Rectangle[][] cells = new Rectangle[ROWS][COLS]; // 视图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void render() {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for (int r = 0; r &lt; ROWS; r++)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for (int c = 0; c &lt; COLS; c++)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cells[r][c].setFill(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board[r][c] == 0 ? EMPTY : FILLED);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模型变 -&gt; 视图跟着变，这就是第一层映射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1064240" cy="1783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</a:t>
            </a:r>
            <a:endParaRPr sz="14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board 是「模型」（业务状态），cells 是「视图」（界面）。render() 把模型画到界面——只要模型变、调一次 render，界面就更新。今天的所有设计都建立在这层映射上。</a:t>
            </a:r>
            <a:endParaRPr sz="14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示例：一次按键的完整旅程（俄罗斯方块「左移」）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59" y="2194560"/>
            <a:ext cx="2286000" cy="1188720"/>
          </a:xfrm>
          <a:prstGeom prst="rect">
            <a:avLst/>
          </a:prstGeom>
          <a:solidFill>
            <a:srgbClr val="0E4C97"/>
          </a:solidFill>
          <a:ln w="9525">
            <a:solidFill>
              <a:srgbClr val="166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KeyEvent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(键盘按下)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3145536" y="2624328"/>
            <a:ext cx="384048" cy="329184"/>
          </a:xfrm>
          <a:prstGeom prst="rightArrow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2194560"/>
            <a:ext cx="2286000" cy="1188720"/>
          </a:xfrm>
          <a:prstGeom prst="rect">
            <a:avLst/>
          </a:prstGeom>
          <a:solidFill>
            <a:srgbClr val="0E4C97"/>
          </a:solidFill>
          <a:ln w="9525">
            <a:solidFill>
              <a:srgbClr val="166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Controller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.onKey()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5888736" y="2624328"/>
            <a:ext cx="384048" cy="329184"/>
          </a:xfrm>
          <a:prstGeom prst="rightArrow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2194560"/>
            <a:ext cx="2286000" cy="1188720"/>
          </a:xfrm>
          <a:prstGeom prst="rect">
            <a:avLst/>
          </a:prstGeom>
          <a:solidFill>
            <a:srgbClr val="0E4C97"/>
          </a:solidFill>
          <a:ln w="9525">
            <a:solidFill>
              <a:srgbClr val="166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.update()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8631936" y="2624328"/>
            <a:ext cx="384048" cy="329184"/>
          </a:xfrm>
          <a:prstGeom prst="rightArrow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52560" y="2194560"/>
            <a:ext cx="2286000" cy="1188720"/>
          </a:xfrm>
          <a:prstGeom prst="rect">
            <a:avLst/>
          </a:prstGeom>
          <a:solidFill>
            <a:srgbClr val="0E4C97"/>
          </a:solidFill>
          <a:ln w="9525">
            <a:solidFill>
              <a:srgbClr val="166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View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.repaint()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11064240" cy="2011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 = 调用链（谁调谁）；数据流 = 状态变化（模型怎么变）</a:t>
            </a:r>
            <a:endParaRPr sz="15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以「左移」为例：按键 → 控制器翻译成指令 → 模型改坐标 → 视图重绘。</a:t>
            </a:r>
            <a:endParaRPr sz="14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 = 调用链（谁调谁）；数据流 = board 数组怎么变。这是后面读懂所有代码的主线。</a:t>
            </a:r>
            <a:endParaRPr sz="14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易错点：JavaFX 自 JDK 11 起从 JDK 剥离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713232"/>
          </a:xfrm>
          <a:prstGeom prst="rect">
            <a:avLst/>
          </a:prstGeom>
          <a:solidFill>
            <a:srgbClr val="EAF2FB"/>
          </a:solidFill>
          <a:ln w="9525">
            <a:solidFill>
              <a:srgbClr val="35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 java -jar 会报 NoClassDefFoundError——必须用 javafx-maven-plugin 或模块化方式运行。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5166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现象：打包后 java -jar 启动即 NoClassDefFoundError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运行时找不到了 javafx 的类。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原因：JavaFX 不再随 JDK 一起发货，是独立依赖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技巧：正确运行：mvn javafx:run 或带模块路径启动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课堂上先演示错误方式，再给出正确方式。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AI 起脚手架：一次一类文件 vs 一次性全生成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548640" y="1234440"/>
            <a:ext cx="5440680" cy="5029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推荐：一次只生成一类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548640" y="1783080"/>
            <a:ext cx="5440680" cy="4206240"/>
          </a:xfrm>
          <a:prstGeom prst="rect">
            <a:avLst/>
          </a:prstGeom>
          <a:solidFill>
            <a:srgbClr val="EAF2FB"/>
          </a:solidFill>
          <a:ln w="952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85800" y="1874519"/>
            <a:ext cx="5166360" cy="4023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提示词：只生成 pom 和目录，不要引别的依赖</a:t>
            </a:r>
            <a:endParaRPr sz="14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生成 .gitignore 单独一次、明确面向 IDEA+Maven</a:t>
            </a:r>
            <a:endParaRPr sz="14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每类生成后立刻 mvn clean compile 验证</a:t>
            </a:r>
            <a:endParaRPr sz="14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产出少、学生审得过来、问题留痕清晰</a:t>
            </a:r>
            <a:endParaRPr sz="14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6199632" y="1234440"/>
            <a:ext cx="5440680" cy="50292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✗ 禁止：一次性生成整个项目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>
            <p:custDataLst>
              <p:tags r:id="rId5"/>
            </p:custDataLst>
          </p:nvPr>
        </p:nvSpPr>
        <p:spPr>
          <a:xfrm>
            <a:off x="6199632" y="1783080"/>
            <a:ext cx="5440680" cy="4206240"/>
          </a:xfrm>
          <a:prstGeom prst="rect">
            <a:avLst/>
          </a:prstGeom>
          <a:solidFill>
            <a:srgbClr val="FBECEA"/>
          </a:solidFill>
          <a:ln w="952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6336792" y="1874519"/>
            <a:ext cx="5166360" cy="4023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AI 一次性吐出几十个文件</a:t>
            </a:r>
            <a:endParaRPr sz="14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版本、依赖、结构全混在一起</a:t>
            </a:r>
            <a:endParaRPr sz="14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学生根本审不过来，等于埋雷</a:t>
            </a:r>
            <a:endParaRPr sz="14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出错时不知道改哪、核对无从下手</a:t>
            </a:r>
            <a:endParaRPr sz="14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脚手架当场要审四件事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713232"/>
          </a:xfrm>
          <a:prstGeom prst="rect">
            <a:avLst/>
          </a:prstGeom>
          <a:solidFill>
            <a:srgbClr val="EAF2FB"/>
          </a:solidFill>
          <a:ln w="9525">
            <a:solidFill>
              <a:srgbClr val="35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版本匹配 / 最小性 / 可构建 / README 一致——审完留痕写进 README 和日报。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5166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6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AI：版本匹配：JavaFX 依赖和 JDK 17 对得上</a:t>
            </a:r>
            <a:endParaRPr sz="1500" b="1">
              <a:solidFill>
                <a:srgbClr val="166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66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AI 常给出 21、23 等不匹配的版本，需要核对。</a:t>
            </a:r>
            <a:endParaRPr sz="1500" b="1">
              <a:solidFill>
                <a:srgbClr val="166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66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AI：最小性：没引你不需要的依赖</a:t>
            </a:r>
            <a:endParaRPr sz="1500" b="1">
              <a:solidFill>
                <a:srgbClr val="166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66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多余依赖是后期冲突和体积的来源。</a:t>
            </a:r>
            <a:endParaRPr sz="1500" b="1">
              <a:solidFill>
                <a:srgbClr val="166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66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AI：可构建：mvn clean compile 通过</a:t>
            </a:r>
            <a:endParaRPr sz="1500" b="1">
              <a:solidFill>
                <a:srgbClr val="166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66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脚手架跑不通就没有意义。</a:t>
            </a:r>
            <a:endParaRPr sz="1500" b="1">
              <a:solidFill>
                <a:srgbClr val="166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66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AI：README 与真实工程一致；不确定版本标 [待确认]</a:t>
            </a:r>
            <a:endParaRPr sz="1500" b="1">
              <a:solidFill>
                <a:srgbClr val="166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66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让 AI 标疑问，别让它瞎编。</a:t>
            </a:r>
            <a:endParaRPr sz="1500" b="1">
              <a:solidFill>
                <a:srgbClr val="166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示例：pom.xml 关键片段（JDK17 + JavaFX17）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3880" y="914400"/>
            <a:ext cx="11064240" cy="2868930"/>
          </a:xfrm>
          <a:prstGeom prst="rect">
            <a:avLst/>
          </a:prstGeom>
          <a:solidFill>
            <a:srgbClr val="1E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91440" rtlCol="0" anchor="ctr"/>
          <a:lstStyle/>
          <a:p>
            <a:pPr algn="ctr"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&lt;dependencies&gt;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&lt;dependency&gt;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&lt;groupId&gt;org.openjfx&lt;/groupId&gt;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&lt;artifactId&gt;javafx-controls&lt;/artifactId&gt;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&lt;version&gt;17&lt;/version&gt;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&lt;/dependency&gt;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&lt;/dependencies&gt;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&lt;build&gt;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&lt;plugins&gt;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&lt;plugin&gt;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&lt;groupId&gt;org.openjfx&lt;/groupId&gt;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&lt;artifactId&gt;javafx-maven-plugin&lt;/artifactId&gt;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&lt;version&gt;0.0.8&lt;/version&gt;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&lt;configuration&gt;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&lt;mainClass&gt;com.demo.App&lt;/mainClass&gt;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&lt;/configuration&gt;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&lt;/plugin&gt;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&lt;/plugins&gt;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&lt;/build&gt;</a:t>
            </a:r>
            <a:endParaRPr sz="1250" b="0">
              <a:solidFill>
                <a:srgbClr val="E6ED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1064240" cy="17830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</a:t>
            </a:r>
            <a:endParaRPr sz="14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javafx-controls 是界面控件依赖；javafx-maven-plugin 提供 javafx:run 启动方式（解决「脱离 JDK 后怎么跑」）。版本 17 需与 JDK 17 对齐——这是第一天最高频的错配点。</a:t>
            </a:r>
            <a:endParaRPr sz="14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生产习惯：今天就要养成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713232"/>
          </a:xfrm>
          <a:prstGeom prst="rect">
            <a:avLst/>
          </a:prstGeom>
          <a:solidFill>
            <a:srgbClr val="EAF2FB"/>
          </a:solidFill>
          <a:ln w="9525">
            <a:solidFill>
              <a:srgbClr val="35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 UTF-8、提交 .editorconfig、第一天打 tag、文档代码先 AI 起草再人审。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5166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技巧：全仓库统一 UTF-8 + 把 .editorconfig 提交进仓库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避免中文乱码和跨机差异。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技巧：第一天就打 tag v0.0.1-skeleton 标记里程碑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每个可运行节点都该有 tag。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66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AI：文档和代码一律先 AI 起草、再由人核对定稿</a:t>
            </a:r>
            <a:endParaRPr sz="1500" b="1">
              <a:solidFill>
                <a:srgbClr val="166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66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别反过来——AI 起草不等于 AI 定稿。</a:t>
            </a:r>
            <a:endParaRPr sz="1500" b="1">
              <a:solidFill>
                <a:srgbClr val="166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今日易错点（对照自查）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713232"/>
          </a:xfrm>
          <a:prstGeom prst="rect">
            <a:avLst/>
          </a:prstGeom>
          <a:solidFill>
            <a:srgbClr val="EAF2FB"/>
          </a:solidFill>
          <a:ln w="9525">
            <a:solidFill>
              <a:srgbClr val="35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本机多 JDK 混用、中文路径、大文件进 Git、JavaFX 运行方式、照抄 AI 版本不核对。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5166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本机多 JDK 混用：Project SDK 和 Module SDK 两处都要查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中文路径导致资源加载失败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工程路径别带中文。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把大二进制塞进 Git 让仓库膨胀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.gitignore 把 target/、*.iml 挡掉。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照抄 AI 给的依赖版本不核对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版本错配第一天最高发。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Debug 入门：今天先会用行断点 + 调用栈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713232"/>
          </a:xfrm>
          <a:prstGeom prst="rect">
            <a:avLst/>
          </a:prstGeom>
          <a:solidFill>
            <a:srgbClr val="EAF2FB"/>
          </a:solidFill>
          <a:ln w="9525">
            <a:solidFill>
              <a:srgbClr val="35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从今天起用 Debug 别再用「打印大法」；先建立「谁调用了这段代码」的栈意识。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5166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例：行断点：在 start() 点一下，Debug 启动即在此暂停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A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F8 单步、Alt+F8 求值看变量。</a:t>
            </a:r>
            <a:endParaRPr sz="1500" b="0">
              <a:solidFill>
                <a:srgbClr val="212A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技巧：调用栈：看当前函数被谁一层层调进来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读开源代码、查 Bug 的基本功。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技巧：五种断点和单步三式后面几天全教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今天先建立栈意识。</a:t>
            </a:r>
            <a:endParaRPr sz="1500" b="1">
              <a:solidFill>
                <a:srgbClr val="2E7D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4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106424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今日收尾：四件事带走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46304" cy="4572000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607040" cy="43891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工程骨架跑通：Maven + JavaFX17 + 10×20 网格，一键可运行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这是后面九天的基础。</a:t>
            </a:r>
            <a:endParaRPr sz="14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建立「模型 ↔ 视图」第一层映射意识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 UI 设计都长在这上面。</a:t>
            </a:r>
            <a:endParaRPr sz="14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 AI 起脚手架，但一次一类 + 当场核对留痕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版本错配、多余依赖两类问题今天就要会查。</a:t>
            </a:r>
            <a:endParaRPr sz="14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Git 分支 + 首次提交 + tag + 第一份日报（含 AI 使用记录）</a:t>
            </a:r>
            <a:endParaRPr sz="160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完成标准：陌生人能按 README 跑起来。</a:t>
            </a:r>
            <a:endParaRPr sz="14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66344" cy="3730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7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87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97864" y="438912"/>
            <a:ext cx="2377440" cy="40965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NEUEDU</a:t>
            </a:r>
            <a:endParaRPr sz="15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学生实战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分组选题、AI 生成脚手架并核对、搭建工程、初始化 Git —— 教师巡回辅导并逐组评估风险</a:t>
            </a:r>
            <a:endParaRPr sz="18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66344" cy="3730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7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87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97864" y="438912"/>
            <a:ext cx="2377440" cy="40965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NEUEDU</a:t>
            </a:r>
            <a:endParaRPr sz="15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提交今日成果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演示运行、确认工程可一键运行后提交当日结果（含首份日报）</a:t>
            </a:r>
            <a:endParaRPr sz="18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66344" cy="3730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70" b="1">
                <a:solidFill>
                  <a:srgbClr val="0E4C9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sz="1870" b="1">
              <a:solidFill>
                <a:srgbClr val="0E4C9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97864" y="438912"/>
            <a:ext cx="2377440" cy="40965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5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NEUEDU</a:t>
            </a:r>
            <a:endParaRPr sz="15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当日课后教师评审（当晚完成）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对照以下清单逐项检查，不通过者当晚反馈、次日课首集中讲评</a:t>
            </a:r>
            <a:endParaRPr sz="18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452628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B9CC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目录结构：包结构清晰，命名体现职责(controller/model/view/config/util)</a:t>
            </a:r>
            <a:endParaRPr sz="1300" b="0">
              <a:solidFill>
                <a:srgbClr val="B9CC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9CC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pom.xml：JDK17、JavaFX 依赖与插件正确，mvn clean compile 可跑</a:t>
            </a:r>
            <a:endParaRPr sz="1300" b="0">
              <a:solidFill>
                <a:srgbClr val="B9CC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9CC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Git 规范：分支模型正确、提交信息规范、.gitignore 完整</a:t>
            </a:r>
            <a:endParaRPr sz="1300" b="0">
              <a:solidFill>
                <a:srgbClr val="B9CC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9CC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README：陌生人能按文档跑起来，含 AI 使用与核对说明</a:t>
            </a:r>
            <a:endParaRPr sz="1300" b="0">
              <a:solidFill>
                <a:srgbClr val="B9CC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9CC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AI 核对：版本错配与多余依赖已修正并留痕</a:t>
            </a:r>
            <a:endParaRPr sz="1300" b="0">
              <a:solidFill>
                <a:srgbClr val="B9CC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8961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东软教育科技集团有限公司  ·  NEUEDU</a:t>
            </a:r>
            <a:endParaRPr sz="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822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C9D8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900" b="0">
              <a:solidFill>
                <a:srgbClr val="C9D8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4.4,&quot;left&quot;:43.2,&quot;top&quot;:97.2,&quot;width&quot;:873.36}"/>
</p:tagLst>
</file>

<file path=ppt/tags/tag2.xml><?xml version="1.0" encoding="utf-8"?>
<p:tagLst xmlns:p="http://schemas.openxmlformats.org/presentationml/2006/main">
  <p:tag name="KSO_WM_DIAGRAM_VIRTUALLY_FRAME" val="{&quot;height&quot;:374.4,&quot;left&quot;:43.2,&quot;top&quot;:97.2,&quot;width&quot;:873.36}"/>
</p:tagLst>
</file>

<file path=ppt/tags/tag3.xml><?xml version="1.0" encoding="utf-8"?>
<p:tagLst xmlns:p="http://schemas.openxmlformats.org/presentationml/2006/main">
  <p:tag name="KSO_WM_DIAGRAM_VIRTUALLY_FRAME" val="{&quot;height&quot;:374.4,&quot;left&quot;:43.2,&quot;top&quot;:97.2,&quot;width&quot;:873.36}"/>
</p:tagLst>
</file>

<file path=ppt/tags/tag4.xml><?xml version="1.0" encoding="utf-8"?>
<p:tagLst xmlns:p="http://schemas.openxmlformats.org/presentationml/2006/main">
  <p:tag name="KSO_WM_DIAGRAM_VIRTUALLY_FRAME" val="{&quot;height&quot;:374.4,&quot;left&quot;:43.2,&quot;top&quot;:97.2,&quot;width&quot;:873.36}"/>
</p:tagLst>
</file>

<file path=ppt/tags/tag5.xml><?xml version="1.0" encoding="utf-8"?>
<p:tagLst xmlns:p="http://schemas.openxmlformats.org/presentationml/2006/main">
  <p:tag name="KSO_WM_DIAGRAM_VIRTUALLY_FRAME" val="{&quot;height&quot;:374.4,&quot;left&quot;:43.2,&quot;top&quot;:97.2,&quot;width&quot;:873.36}"/>
</p:tagLst>
</file>

<file path=ppt/tags/tag6.xml><?xml version="1.0" encoding="utf-8"?>
<p:tagLst xmlns:p="http://schemas.openxmlformats.org/presentationml/2006/main">
  <p:tag name="KSO_WM_DIAGRAM_VIRTUALLY_FRAME" val="{&quot;height&quot;:374.4,&quot;left&quot;:43.2,&quot;top&quot;:97.2,&quot;width&quot;:873.3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5092</Words>
  <Application>WPS 演示</Application>
  <PresentationFormat>On-screen Show (4:3)</PresentationFormat>
  <Paragraphs>339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123</cp:lastModifiedBy>
  <cp:revision>3</cp:revision>
  <dcterms:created xsi:type="dcterms:W3CDTF">2013-01-27T09:14:00Z</dcterms:created>
  <dcterms:modified xsi:type="dcterms:W3CDTF">2026-09-07T03:25:23Z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CC872F2EEFB5499A9028B4483EFAD420_13</vt:lpwstr>
  </property>
</Properties>
</file>